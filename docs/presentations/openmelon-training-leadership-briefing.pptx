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201f2a9d724404" /><Relationship Type="http://schemas.openxmlformats.org/officeDocument/2006/relationships/extended-properties" Target="/docProps/app.xml" Id="R5c452ef07ce2467f" /><Relationship Type="http://schemas.openxmlformats.org/officeDocument/2006/relationships/officeDocument" Target="/ppt/presentation.xml" Id="R5bb91c519cc4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cc4e1ab8394c6a"/>
  </p:sldMasterIdLst>
  <p:notesMasterIdLst>
    <p:notesMasterId xmlns:r="http://schemas.openxmlformats.org/officeDocument/2006/relationships" r:id="R77d69f66d395414e"/>
  </p:notesMasterIdLst>
  <p:sldIdLst>
    <p:sldId xmlns:r="http://schemas.openxmlformats.org/officeDocument/2006/relationships" id="256" r:id="R4e79610a511e4197"/>
    <p:sldId xmlns:r="http://schemas.openxmlformats.org/officeDocument/2006/relationships" id="257" r:id="Re752a06f75504032"/>
    <p:sldId xmlns:r="http://schemas.openxmlformats.org/officeDocument/2006/relationships" id="258" r:id="Rf2fc1b550b354182"/>
    <p:sldId xmlns:r="http://schemas.openxmlformats.org/officeDocument/2006/relationships" id="259" r:id="R3d05ec9a55af4614"/>
    <p:sldId xmlns:r="http://schemas.openxmlformats.org/officeDocument/2006/relationships" id="260" r:id="Rc59bd2903f0945ed"/>
    <p:sldId xmlns:r="http://schemas.openxmlformats.org/officeDocument/2006/relationships" id="261" r:id="R9ee9afb12d814684"/>
    <p:sldId xmlns:r="http://schemas.openxmlformats.org/officeDocument/2006/relationships" id="262" r:id="R948aac75de054a58"/>
    <p:sldId xmlns:r="http://schemas.openxmlformats.org/officeDocument/2006/relationships" id="263" r:id="Re597ea4813a7467b"/>
    <p:sldId xmlns:r="http://schemas.openxmlformats.org/officeDocument/2006/relationships" id="264" r:id="R51e4d725a66946fd"/>
    <p:sldId xmlns:r="http://schemas.openxmlformats.org/officeDocument/2006/relationships" id="265" r:id="R94627519a03449b2"/>
    <p:sldId xmlns:r="http://schemas.openxmlformats.org/officeDocument/2006/relationships" id="266" r:id="R0a3246b3ccd64c06"/>
    <p:sldId xmlns:r="http://schemas.openxmlformats.org/officeDocument/2006/relationships" id="267" r:id="R041e26c2bf384e5a"/>
    <p:sldId xmlns:r="http://schemas.openxmlformats.org/officeDocument/2006/relationships" id="268" r:id="R2da888dab93040b1"/>
    <p:sldId xmlns:r="http://schemas.openxmlformats.org/officeDocument/2006/relationships" id="269" r:id="R0fdc84228cb74c75"/>
    <p:sldId xmlns:r="http://schemas.openxmlformats.org/officeDocument/2006/relationships" id="270" r:id="R921c63be18b24862"/>
    <p:sldId xmlns:r="http://schemas.openxmlformats.org/officeDocument/2006/relationships" id="271" r:id="R980716d12f3c4bd8"/>
    <p:sldId xmlns:r="http://schemas.openxmlformats.org/officeDocument/2006/relationships" id="272" r:id="Rf8a1ed028db147bd"/>
    <p:sldId xmlns:r="http://schemas.openxmlformats.org/officeDocument/2006/relationships" id="273" r:id="Rcd5c4f3825894d9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c4e1ab8394c6a" /><Relationship Type="http://schemas.openxmlformats.org/officeDocument/2006/relationships/theme" Target="/ppt/theme/theme1.xml" Id="R51fb9e4f749b4eef" /><Relationship Type="http://schemas.openxmlformats.org/officeDocument/2006/relationships/notesMaster" Target="/ppt/notesMasters/notesMaster1.xml" Id="R77d69f66d395414e" /><Relationship Type="http://schemas.openxmlformats.org/officeDocument/2006/relationships/presProps" Target="/ppt/presProps.xml" Id="R15cd9e86e62b47c4" /><Relationship Type="http://schemas.openxmlformats.org/officeDocument/2006/relationships/viewProps" Target="/ppt/viewProps.xml" Id="R6d41ad9034ef411c" /><Relationship Type="http://schemas.openxmlformats.org/officeDocument/2006/relationships/tableStyles" Target="/ppt/tableStyles.xml" Id="Rcf2490d84bca496d" /><Relationship Type="http://schemas.openxmlformats.org/officeDocument/2006/relationships/slide" Target="/ppt/slides/slide1.xml" Id="R4e79610a511e4197" /><Relationship Type="http://schemas.openxmlformats.org/officeDocument/2006/relationships/slide" Target="/ppt/slides/slide2.xml" Id="Re752a06f75504032" /><Relationship Type="http://schemas.openxmlformats.org/officeDocument/2006/relationships/slide" Target="/ppt/slides/slide3.xml" Id="Rf2fc1b550b354182" /><Relationship Type="http://schemas.openxmlformats.org/officeDocument/2006/relationships/slide" Target="/ppt/slides/slide4.xml" Id="R3d05ec9a55af4614" /><Relationship Type="http://schemas.openxmlformats.org/officeDocument/2006/relationships/slide" Target="/ppt/slides/slide5.xml" Id="Rc59bd2903f0945ed" /><Relationship Type="http://schemas.openxmlformats.org/officeDocument/2006/relationships/slide" Target="/ppt/slides/slide6.xml" Id="R9ee9afb12d814684" /><Relationship Type="http://schemas.openxmlformats.org/officeDocument/2006/relationships/slide" Target="/ppt/slides/slide7.xml" Id="R948aac75de054a58" /><Relationship Type="http://schemas.openxmlformats.org/officeDocument/2006/relationships/slide" Target="/ppt/slides/slide8.xml" Id="Re597ea4813a7467b" /><Relationship Type="http://schemas.openxmlformats.org/officeDocument/2006/relationships/slide" Target="/ppt/slides/slide9.xml" Id="R51e4d725a66946fd" /><Relationship Type="http://schemas.openxmlformats.org/officeDocument/2006/relationships/slide" Target="/ppt/slides/slide10.xml" Id="R94627519a03449b2" /><Relationship Type="http://schemas.openxmlformats.org/officeDocument/2006/relationships/slide" Target="/ppt/slides/slide11.xml" Id="R0a3246b3ccd64c06" /><Relationship Type="http://schemas.openxmlformats.org/officeDocument/2006/relationships/slide" Target="/ppt/slides/slide12.xml" Id="R041e26c2bf384e5a" /><Relationship Type="http://schemas.openxmlformats.org/officeDocument/2006/relationships/slide" Target="/ppt/slides/slide13.xml" Id="R2da888dab93040b1" /><Relationship Type="http://schemas.openxmlformats.org/officeDocument/2006/relationships/slide" Target="/ppt/slides/slide14.xml" Id="R0fdc84228cb74c75" /><Relationship Type="http://schemas.openxmlformats.org/officeDocument/2006/relationships/slide" Target="/ppt/slides/slide15.xml" Id="R921c63be18b24862" /><Relationship Type="http://schemas.openxmlformats.org/officeDocument/2006/relationships/slide" Target="/ppt/slides/slide16.xml" Id="R980716d12f3c4bd8" /><Relationship Type="http://schemas.openxmlformats.org/officeDocument/2006/relationships/slide" Target="/ppt/slides/slide17.xml" Id="Rf8a1ed028db147bd" /><Relationship Type="http://schemas.openxmlformats.org/officeDocument/2006/relationships/slide" Target="/ppt/slides/slide18.xml" Id="Rcd5c4f3825894d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5f8c208504c4f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7d4b5398994a8e" /><Relationship Type="http://schemas.openxmlformats.org/officeDocument/2006/relationships/notesMaster" Target="/ppt/notesMasters/notesMaster1.xml" Id="R69c5d51731bc4d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4398c7bb8d4a4a" /><Relationship Type="http://schemas.openxmlformats.org/officeDocument/2006/relationships/notesMaster" Target="/ppt/notesMasters/notesMaster1.xml" Id="Rbd84381899b1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94c68581da459d" /><Relationship Type="http://schemas.openxmlformats.org/officeDocument/2006/relationships/notesMaster" Target="/ppt/notesMasters/notesMaster1.xml" Id="Rfd44fc4275ab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4b8f900a1549b5" /><Relationship Type="http://schemas.openxmlformats.org/officeDocument/2006/relationships/notesMaster" Target="/ppt/notesMasters/notesMaster1.xml" Id="Ra11bf3c6bdd64e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0a878349ac464c" /><Relationship Type="http://schemas.openxmlformats.org/officeDocument/2006/relationships/notesMaster" Target="/ppt/notesMasters/notesMaster1.xml" Id="Rb4bc148d3acf4b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1ef453b4994055" /><Relationship Type="http://schemas.openxmlformats.org/officeDocument/2006/relationships/notesMaster" Target="/ppt/notesMasters/notesMaster1.xml" Id="Rc1aeefcfb15343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c121721a5d4c20" /><Relationship Type="http://schemas.openxmlformats.org/officeDocument/2006/relationships/notesMaster" Target="/ppt/notesMasters/notesMaster1.xml" Id="R932225c51b3941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31c4d7df5b4959" /><Relationship Type="http://schemas.openxmlformats.org/officeDocument/2006/relationships/notesMaster" Target="/ppt/notesMasters/notesMaster1.xml" Id="R3730da4b018143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380b1a46bc4a24" /><Relationship Type="http://schemas.openxmlformats.org/officeDocument/2006/relationships/notesMaster" Target="/ppt/notesMasters/notesMaster1.xml" Id="R1e6481c3b83c4d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c67839a6fa4608" /><Relationship Type="http://schemas.openxmlformats.org/officeDocument/2006/relationships/notesMaster" Target="/ppt/notesMasters/notesMaster1.xml" Id="R1c03f001318e4a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66d8381afc4e87" /><Relationship Type="http://schemas.openxmlformats.org/officeDocument/2006/relationships/notesMaster" Target="/ppt/notesMasters/notesMaster1.xml" Id="R6d8a31276b5e4e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95be488c9a8416a" /><Relationship Type="http://schemas.openxmlformats.org/officeDocument/2006/relationships/notesMaster" Target="/ppt/notesMasters/notesMaster1.xml" Id="R0a5934c79f5f40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e368940b294b9c" /><Relationship Type="http://schemas.openxmlformats.org/officeDocument/2006/relationships/notesMaster" Target="/ppt/notesMasters/notesMaster1.xml" Id="R4efa7cf028204e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bdeaa9c3874ee2" /><Relationship Type="http://schemas.openxmlformats.org/officeDocument/2006/relationships/notesMaster" Target="/ppt/notesMasters/notesMaster1.xml" Id="R380a6b41620742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c568b9947e4d87" /><Relationship Type="http://schemas.openxmlformats.org/officeDocument/2006/relationships/notesMaster" Target="/ppt/notesMasters/notesMaster1.xml" Id="Ra6cf1e18e27c40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defd3710f6432a" /><Relationship Type="http://schemas.openxmlformats.org/officeDocument/2006/relationships/notesMaster" Target="/ppt/notesMasters/notesMaster1.xml" Id="R62377c29350a4d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dfbf9eb32c43c9" /><Relationship Type="http://schemas.openxmlformats.org/officeDocument/2006/relationships/notesMaster" Target="/ppt/notesMasters/notesMaster1.xml" Id="R84b7375be14d4c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54c4b8515440dc" /><Relationship Type="http://schemas.openxmlformats.org/officeDocument/2006/relationships/notesMaster" Target="/ppt/notesMasters/notesMaster1.xml" Id="R8ad9b56f47ff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27cea64a24b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f57a0f41016473a" /><Relationship Type="http://schemas.openxmlformats.org/officeDocument/2006/relationships/slideLayout" Target="/ppt/slideLayouts/slideLayout2.xml" Id="R1e585d4d02d2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585d4d02d2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84b886ec1a4c56" /><Relationship Type="http://schemas.openxmlformats.org/officeDocument/2006/relationships/image" Target="/ppt/media/image.png" Id="Ra7d41e5577ce410f" /><Relationship Type="http://schemas.openxmlformats.org/officeDocument/2006/relationships/notesSlide" Target="/ppt/notesSlides/notesSlide1.xml" Id="R526ffb2be9aa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d039ac90744ff6" /><Relationship Type="http://schemas.openxmlformats.org/officeDocument/2006/relationships/notesSlide" Target="/ppt/notesSlides/notesSlide2.xml" Id="Rb9523736fdd046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4f5ae599b54f4e" /><Relationship Type="http://schemas.openxmlformats.org/officeDocument/2006/relationships/notesSlide" Target="/ppt/notesSlides/notesSlide3.xml" Id="Rc3fdd91045fa4c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0003d534174dab" /><Relationship Type="http://schemas.openxmlformats.org/officeDocument/2006/relationships/notesSlide" Target="/ppt/notesSlides/notesSlide4.xml" Id="Rc2c0fa19206c4e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ab12789e2e4542" /><Relationship Type="http://schemas.openxmlformats.org/officeDocument/2006/relationships/image" Target="/ppt/media/image2.png" Id="Ra66586e45cd34edb" /><Relationship Type="http://schemas.openxmlformats.org/officeDocument/2006/relationships/notesSlide" Target="/ppt/notesSlides/notesSlide5.xml" Id="R8962e140bdf745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a40255363e4e1d" /><Relationship Type="http://schemas.openxmlformats.org/officeDocument/2006/relationships/notesSlide" Target="/ppt/notesSlides/notesSlide6.xml" Id="R9da1988ddc6c45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4e259040749f0" /><Relationship Type="http://schemas.openxmlformats.org/officeDocument/2006/relationships/notesSlide" Target="/ppt/notesSlides/notesSlide7.xml" Id="Rb59b3d4ffddf4f0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c865059b154b57" /><Relationship Type="http://schemas.openxmlformats.org/officeDocument/2006/relationships/image" Target="/ppt/media/image.jpeg" Id="R124d6e15eade45c2" /><Relationship Type="http://schemas.openxmlformats.org/officeDocument/2006/relationships/image" Target="/ppt/media/image2.jpeg" Id="R326f44bf7f3c411c" /><Relationship Type="http://schemas.openxmlformats.org/officeDocument/2006/relationships/notesSlide" Target="/ppt/notesSlides/notesSlide8.xml" Id="R58e3511c6d7344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7822d4cc34633" /><Relationship Type="http://schemas.openxmlformats.org/officeDocument/2006/relationships/image" Target="/ppt/media/image3.jpeg" Id="Rd3bdd62447364d5d" /><Relationship Type="http://schemas.openxmlformats.org/officeDocument/2006/relationships/notesSlide" Target="/ppt/notesSlides/notesSlide9.xml" Id="R36b053d135a246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abfd8cc1a4f40" /><Relationship Type="http://schemas.openxmlformats.org/officeDocument/2006/relationships/image" Target="/ppt/media/image3.png" Id="R878e5992201b4a17" /><Relationship Type="http://schemas.openxmlformats.org/officeDocument/2006/relationships/notesSlide" Target="/ppt/notesSlides/notesSlide10.xml" Id="R09bee5a5b5bd46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b692a394c4594" /><Relationship Type="http://schemas.openxmlformats.org/officeDocument/2006/relationships/notesSlide" Target="/ppt/notesSlides/notesSlide11.xml" Id="R5b5810f915ca42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6df7c6fe804eff" /><Relationship Type="http://schemas.openxmlformats.org/officeDocument/2006/relationships/image" Target="/ppt/media/image4.jpeg" Id="R1c281787b3e84aa1" /><Relationship Type="http://schemas.openxmlformats.org/officeDocument/2006/relationships/notesSlide" Target="/ppt/notesSlides/notesSlide12.xml" Id="Rcea747f92ee94d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840d5eceae407b" /><Relationship Type="http://schemas.openxmlformats.org/officeDocument/2006/relationships/notesSlide" Target="/ppt/notesSlides/notesSlide13.xml" Id="R03115e0c0ac947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a82f58d82f4c84" /><Relationship Type="http://schemas.openxmlformats.org/officeDocument/2006/relationships/notesSlide" Target="/ppt/notesSlides/notesSlide14.xml" Id="R7a0ec0535d9548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042e364db4cb2" /><Relationship Type="http://schemas.openxmlformats.org/officeDocument/2006/relationships/notesSlide" Target="/ppt/notesSlides/notesSlide15.xml" Id="R4d6d23fdd96d49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fa3a30521f4cf1" /><Relationship Type="http://schemas.openxmlformats.org/officeDocument/2006/relationships/notesSlide" Target="/ppt/notesSlides/notesSlide16.xml" Id="Rfe027fd2170b4c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50a5b992c44caa" /><Relationship Type="http://schemas.openxmlformats.org/officeDocument/2006/relationships/notesSlide" Target="/ppt/notesSlides/notesSlide17.xml" Id="Rcc206f6256404a4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f47cde2f57466b" /><Relationship Type="http://schemas.openxmlformats.org/officeDocument/2006/relationships/notesSlide" Target="/ppt/notesSlides/notesSlide18.xml" Id="R0a289570e2d8408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F82B50-C12E-42CB-A273-B2AECF24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5FC1D-0251-43EE-8F1C-5A320369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7C70B-7684-4073-9D6F-46BA51DA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7C9BB-6AAB-40E4-9270-B5C3F73E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OPENMELON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C1FE3-126C-48C7-8F18-F7E2AC4B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项目培训与领导汇报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123FF-9CE1-4B62-BC00-8E4BD313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09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从知识问答到测试资产闭环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86F89-3F71-42BB-BE21-65E1E11E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当前项目已经形成“文档导入 → 智能问答/图谱 → 测试用例生成 → API 自动化 → 覆盖率治理”的可演示闭环。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8F43B-18D5-400A-8CB8-48B41228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066800"/>
            <a:ext cx="41529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3C"/>
          </a:solidFill>
          <a:ln xmlns:a="http://schemas.openxmlformats.org/drawingml/2006/main" w="9525">
            <a:solidFill>
              <a:srgbClr val="3A4855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41e5577ce410f"/>
          <a:stretch xmlns:a="http://schemas.openxmlformats.org/drawingml/2006/main"/>
        </p:blipFill>
        <p:spPr>
          <a:xfrm xmlns:a="http://schemas.openxmlformats.org/drawingml/2006/main">
            <a:off x="7048886" y="1143000"/>
            <a:ext cx="3999728" cy="1790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1249F-3131-405D-A0B8-7CF34F77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0E303-124E-431B-A784-F6251C1C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36397-E0BF-4EFF-A427-84C8245B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1911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434BD1-D0BC-440C-9EDD-85002A7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问答 / 图谱 / 用例 / 覆盖率 / API / 设置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48A7A-DAE9-4A9F-B296-3B2CEDE0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53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6FC2A-0E16-455E-A8E8-2E16AA0F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435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38E459-530C-49E5-8565-5541A8AF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1911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检索通道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01C0D5-D9AF-4FEF-857A-3ADD365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292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graph / vector / hybrid / visualization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ED0289-4818-4C58-AC27-8D095ED3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53000"/>
            <a:ext cx="209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C2D55-965C-4013-B5C6-A8DFD03F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4350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D9F72-B975-4C08-A605-73729D4E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9112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共享 SQLite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5B932-2AC4-47DB-8248-2449AA3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29250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后端结构化运行态数据收敛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F9BAF-5FC3-475D-944B-69DFA9F3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B1B7F-1535-49C2-B3BD-7989EF3C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OpenMelon training deck | 2026-05-08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DC27F-6826-4AE3-A888-181FF6E7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902971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FA3679-E438-4E50-9812-26D159D2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72E245-D742-405B-B4BE-ACC52734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416E24E-0157-4365-A193-06464096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LEADERSHIP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CA89B-C9EC-4356-AB8E-A8D41FF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项目价值不在“生成一段回答”，而在沉淀可复用的测试资产。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8CA8B-6CD2-4556-B332-BB069F48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领导汇报建议抓住三件事：知识能被问到，测试能被生成，执行经验能反哺后续治理。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E9570-4EEA-4A93-A685-90CB3479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8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752A9-E75C-4D46-89D4-1660BE9C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知识分散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86B34-5E7D-4CDB-ADB2-4C86840A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523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C5523A"/>
                </a:solidFill>
                <a:latin typeface="PingFang SC"/>
                <a:ea typeface="PingFang SC"/>
                <a:cs typeface="PingFang SC"/>
              </a:rPr>
              <a:t>现状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2183A-1EAB-4F68-8AFF-7BD16A2B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需求、接口、用例、历史执行散落在文档和个人经验里。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ABE4F-15B9-4731-A85D-84078ADF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16B8C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316B8C"/>
                </a:solidFill>
                <a:latin typeface="PingFang SC"/>
                <a:ea typeface="PingFang SC"/>
                <a:cs typeface="PingFang SC"/>
              </a:rPr>
              <a:t>OpenMelon 解法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A8C5C-860E-4351-B9BF-8CF485F6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统一索引到图谱、向量与运行态记录，问答和图谱成为入口。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169FD-7DB2-4D68-AB56-E4F5950C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38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AC727-5312-4C33-8C48-292C6010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测试生产慢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4724E-4C23-42E6-8BC2-0ADE6032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523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C5523A"/>
                </a:solidFill>
                <a:latin typeface="PingFang SC"/>
                <a:ea typeface="PingFang SC"/>
                <a:cs typeface="PingFang SC"/>
              </a:rPr>
              <a:t>现状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F7A4ED-F586-4750-8264-2AB0CF07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90875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用例编写和接口脚本维护依赖人工经验，复用成本高。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B3CDC-0383-4B12-B3ED-031AE2AC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7822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C7822B"/>
                </a:solidFill>
                <a:latin typeface="PingFang SC"/>
                <a:ea typeface="PingFang SC"/>
                <a:cs typeface="PingFang SC"/>
              </a:rPr>
              <a:t>OpenMelon 解法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58C1D-5C1B-494A-B49C-9E41D566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AutoGen 三阶段生成用例，API 文档可转 DSL 并执行。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4CADF7-F5E9-4F4C-953F-F0F8F536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81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91F04-559B-482A-BDFE-7806ECFF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质量不可见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F6844-40BE-4233-8985-B0A6C43A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5523A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C5523A"/>
                </a:solidFill>
                <a:latin typeface="PingFang SC"/>
                <a:ea typeface="PingFang SC"/>
                <a:cs typeface="PingFang SC"/>
              </a:rPr>
              <a:t>现状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D8D9C-0091-4CC0-BA04-7AD004A2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90875"/>
            <a:ext cx="2667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执行结果、失败原因和覆盖关系难以成为管理视图。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41D2F-7FC5-4D99-B611-F5604E09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2E7D6B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2E7D6B"/>
                </a:solidFill>
                <a:latin typeface="PingFang SC"/>
                <a:ea typeface="PingFang SC"/>
                <a:cs typeface="PingFang SC"/>
              </a:rPr>
              <a:t>OpenMelon 解法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BACCA-DE7D-41EA-9A64-46156260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43400"/>
            <a:ext cx="2714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覆盖率、策略审计、知识候选把风险和进展可视化。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7E4EF-7114-48F3-8CC4-4E7A0E8C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FFB1F2-C8BF-47D9-8C48-9C2F6135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README, MANUAL, CHANGELOG, docs/Knowledge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BC3B8F-BCF1-42AF-B28B-705F062B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146591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6BBE9-B266-4304-8EB6-B8B4F1E7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83BEF80-9EB3-4667-AD19-73A37C68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A169C0-7E57-4451-91EC-8F393ABC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TWO AUDIENCES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8825A-4566-4678-9522-587D060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667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同一份材料同时服务培训和汇报：先讲价值，再讲操作。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6AF2E-D753-4FEF-9AF7-3F7BE34E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7BD9F-5B4F-48C4-9BF2-1EC70526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给领导讲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154CD-6BE6-4DC9-AA82-70A432F8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8F98D-0B65-4283-B02E-79D5FCE1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项目解决什么问题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BFCCD-F7C8-408E-B409-1FF90B3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B44E4-D1A7-46EC-A226-61A9CE9C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当前已经做到哪里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636EF-550D-4C35-9076-AE5AE553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CCD6B-B0DF-4EAF-ADB1-DA62B71D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风险边界是否可控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ED186-DDAD-44D6-AD67-34BAFAAB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AAC10-221A-4B94-8ECC-4164E10A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下一步投入换来什么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C671B-E95A-4F06-BC97-5500958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51564-AE40-453B-8C6B-53CA49E6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给团队培训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59FD7-2FCF-464E-A953-A00499DC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14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FD6C3-5EDB-435D-94FD-E23C9E49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系统页面怎么走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8EE95-6742-4EE4-ACA2-29AA3724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9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7640C-D99C-4938-BDFC-490DEC0B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配置项在哪里改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DF3334-3245-4D43-B0D7-51B30FC3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B7F8B-4545-49A6-9D4C-2072F638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386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生成结果怎么校验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667E8-1783-4200-A909-8C07FEFA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0317C-676D-4618-AF1D-C571F8DD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3562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失败时如何定位和回滚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183601-57A3-457F-8689-84104E8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578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讲解顺序建议：价值闭环 → 核心页面 → 技术架构 → 安全治理 → 演示路径 → 后续计划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B53FB-2692-49AF-A06F-DA9DB830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D5A6F-6F50-4EC2-B030-5FFA34CF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README 使用指南, MANUAL 快速导览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90E43-EDEF-4D2A-AD66-E5E627A9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69836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B84522-E466-4115-B630-CC0ABFA6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491658C-90B6-4F4D-92AE-6927DBD9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F17BCBF-4156-4E0C-88D1-FB13068B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CLOSED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75B9E-3468-4BC2-B460-5B398546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核心不是单点 AI，而是一条测试资产闭环。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968EE-EBB0-4E6C-987C-F142A14B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95072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05D9D-00B6-4340-AA7C-21E1C47E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9507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53E3D-2C58-4A7B-954B-8398FE1D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645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导入管理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5CC37-42FA-402F-A02A-58AF6BD2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16459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解析文档，写入图谱、向量和文件追踪记录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506E9-FEA2-4E4F-BE1F-4A53A4E4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27813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241F0-C94B-428A-B196-F536E77A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2733675"/>
            <a:ext cx="95250" cy="952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D75BB-0797-460D-885E-9635B45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2343150"/>
            <a:ext cx="195072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64933-E1B5-4BD5-A94B-6F615639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770" y="2343150"/>
            <a:ext cx="19507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1A79D-338C-4225-8515-EEBCB4B0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514600"/>
            <a:ext cx="1645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问答 / 图谱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0FC82-1A90-440D-84DC-C12B2E54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00350"/>
            <a:ext cx="16459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通过多通道检索定位知识和关系证据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693E0-503A-4251-87F2-5F80F615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40" y="27813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B4EAC-9EBF-4D4C-A458-A4711E5B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2733675"/>
            <a:ext cx="95250" cy="952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2432EB-34BD-430A-8F18-1CB34515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343150"/>
            <a:ext cx="195072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1E6D6-B4CD-4410-9FE7-C1C8AAB5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343150"/>
            <a:ext cx="19507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EE9F5-C211-4101-8A7F-0A72B3F3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514600"/>
            <a:ext cx="1645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用例生成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6A59C-2775-4260-9557-B0061461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800350"/>
            <a:ext cx="16459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三阶段智能体产出结构化测试用例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920B4-9430-4209-994F-61D048CB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7813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14C03-3292-4E56-BD18-5F4604B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110" y="2733675"/>
            <a:ext cx="95250" cy="952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E7578-0F29-462E-95F1-81E03DFD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2343150"/>
            <a:ext cx="195072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8F34F-D387-4348-9A30-BCEDEE0C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0410" y="2343150"/>
            <a:ext cx="19507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AD81C-3294-4768-ABC6-CA1D5219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2514600"/>
            <a:ext cx="1645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API 自动化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64449F-2CCD-4961-9DA0-C817096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2810" y="2800350"/>
            <a:ext cx="16459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接口资产转 DSL，执行并形成报告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A6F149-B31D-4536-B33A-A87903F9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781300"/>
            <a:ext cx="114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9EF27-AB80-4B1D-8AE4-52C6E189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430" y="2733675"/>
            <a:ext cx="95250" cy="9525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A2E57B-D422-4D5C-90B0-F5889D8A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2343150"/>
            <a:ext cx="195072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406D48-704E-48F7-BEFA-CF775FFA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2343150"/>
            <a:ext cx="195072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E7D98-08A5-4552-B826-BFE1733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2514600"/>
            <a:ext cx="16459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覆盖与沉淀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15EB24-8948-4FAB-8FDF-8AF54B2A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130" y="2800350"/>
            <a:ext cx="164592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可信结果进入知识库，支撑覆盖率与修复复用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64F19D-3A65-4839-A973-B6EF2FD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8096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1E39D-BDE6-4FF2-8D4D-ACEAA529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286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底层支撑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11AE34-29A4-4CB3-8EFF-E022C527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D6B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E7D6B"/>
                </a:solidFill>
                <a:latin typeface="PingFang SC"/>
                <a:ea typeface="PingFang SC"/>
                <a:cs typeface="PingFang SC"/>
              </a:rPr>
              <a:t>Neo4j 图谱关系 + Qdrant 可选向量检索 + SQLite 运行态数据 + 文件/日志持久化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0BD33-C1BE-40B0-8607-2F976EF4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72000"/>
            <a:ext cx="638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这条闭环决定了 OpenMelon 更像一个 QA 知识操作台，而不是普通聊天页面。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C19FC9-5B15-40A3-96C7-D4576AF9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BD15C5-922F-43A9-81C3-928ABE70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README, MANUAL, CHANGELOG, docs/Knowledge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8319F1-AF23-44E0-BCFF-53997039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08230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7F7FA7-1BD0-458C-AD73-301F992D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8432160-B008-4FA3-A82B-42354EFB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2D21641-BC4B-4115-9D52-0AAF0BC6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07FD8-0506-46E4-8851-9A87BBC2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架构已经分清三层：前端体验、后端编排、专业化存储。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DAEC3-623A-48A0-A927-2E8376D6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677227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586e45cd34edb"/>
          <a:stretch xmlns:a="http://schemas.openxmlformats.org/drawingml/2006/main"/>
        </p:blipFill>
        <p:spPr>
          <a:xfrm xmlns:a="http://schemas.openxmlformats.org/drawingml/2006/main">
            <a:off x="933450" y="1809750"/>
            <a:ext cx="5857875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40CF0-D7A4-4C8A-8971-6381D7CB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3499C-D340-433A-8E3F-C0FDF14D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A9D96-E23C-4CC9-878A-41CEB33F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React + Material UI，按 pages + features 拆分业务模块。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81427-3B46-40D9-85C6-394FF14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813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2C4A4-996D-4A6E-979C-5DFB6D4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813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23B31-65B6-45DD-B47C-DEE725EA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FastAPI 路由 + engine 编排 RAG、用例生成、API 执行。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688B4-EA30-4C02-A099-E5E6EBC0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862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DF472-0763-46E4-ACBA-DF1938D5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862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存储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4E1E9C-941D-4F1C-96E8-B23BC6F0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910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SQLite 管运行态，Neo4j 管关系，Qdrant 管向量，文件和日志各归其位。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64561A-DD75-4F3B-8274-AE4C934C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30E4D6-A5E3-4CD6-BD66-FADA3565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README 系统架构, MANUAL 1.1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744F0-DC66-4A11-A8C4-7858A59C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55074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D1850-A8D6-4AFC-8840-77835F34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952F5D7-2E31-4EC7-BE60-6118193B0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65FE835-CD82-443F-BC6A-5CEF2027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INGESTION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73102-5D37-455A-A93B-14FA48C6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文档写入流把“文件”拆成可检索、可关联、可追踪的数据。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4CEA1-4BF9-4014-B1E4-8A4CF689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3090-C201-4C60-94E0-2531836B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76E16-5723-49D7-9C98-23CDE142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6B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16B8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95596-5129-46B8-A04D-3F293C3D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28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用户上传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5C46E-C5C4-4A6E-A7A8-43BF4F73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14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PDF / Word / Markdown / XMind / 图片等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87863-D70F-48BF-BACA-0D1BEEE4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AFA10-742A-407D-9011-DAB13695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6BA78F-10B4-4277-B0C2-A83A1E6E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2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7822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8ACEA-CF8E-4310-A9C1-21D2B475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228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解析分块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F6F8CF-56EA-49D2-AB44-50B049CE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14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解析纯文本，按 800 字符分块并保留重叠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4CAE9-40DE-481B-996D-5BBC75F0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CBB2D-57C4-4E13-917C-6A2870AE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277B3-6F7F-4725-921E-98EFDFE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5C99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65C99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0EB1B-5BFA-4AD1-82E7-152B78F4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向量写入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6BD9E-07EA-4406-96B1-C49E28C5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Embedding 批量写入 Qdrant doc_chunks（可选）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DB43ED-D2FF-42D7-BAB6-649B6E99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55496-0E75-4EE7-BBAF-4F766B86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133FD0-BD64-4D2A-A9B1-D81A2BC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5523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5523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198DA-26D6-40B9-AAFE-196DE82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实体抽取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4CC5A-8E80-4AA7-AED9-1DED0BE2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LLM 提取模块、功能、接口、用例等实体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A0155F-3C66-4067-BEE3-4876B635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576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98090F-D68A-494C-88B6-4B4D7B83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57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0A4EAE-3E86-4E58-9F52-DBD9256E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67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7D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27ED2-8758-4BD4-A98C-ECB61174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29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图谱构建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8B4560-98A6-44F7-91F3-9ECD98C2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1148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Neo4j 创建节点和 RELATED_TO / COVERS 等关系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1ACCC-C77C-45CE-AD17-51F56A7C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9C6EE8-AC3A-457B-8C65-815A9E7A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576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49DCC8-4479-4909-9D4B-234FB472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6B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16B8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DBB822-8166-4FF3-859B-0E380B60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追踪记录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E1BEE-4FEC-45D4-B8A1-17467AEF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SQLite file_records 记录文件状态和分块信息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394020-32BE-456E-B833-193E61FB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培训时可以把这页当成“为什么上传后能问答、能生成用例、能算覆盖率”的底层解释。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0BAC35-2BEB-486C-865C-F1727D98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084733-6683-429E-80FC-91AAD880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1.2 文档索引写入流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A12B43-1D51-4C8C-B2FF-6068A3B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5816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D1B28-82FE-4242-8F81-8D17510E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1F48C1D-4445-4C6F-BE8B-A05F3AE1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611689-9D15-4DA9-BA19-16AF1F88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MULTI-CHANNEL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F0159-991A-4AF3-877D-33CB87BD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问答页是多通道检索：系统先判断问题类型，再选择检索路径。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89641-0C1E-4E5B-BCD0-1254B9CA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71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A3DE7-F940-4B66-B511-080D3B26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62250"/>
            <a:ext cx="1295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Intent Router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意图识别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483E0-6305-498F-8EC3-A51C16E1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0E35A-DB70-4512-AE2C-91A7F17C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2C20F-4A23-4CE2-A19E-447C989F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graph_query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FFBBC-0B97-406B-8CA3-86C481A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实体属性 / 关系网络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8CBAD-A318-469C-A227-2CD9E9BC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2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B32417-ED8F-4885-915F-218341A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1CFA1C-D65F-4D1F-8CBB-A06FA821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A9478-E14F-4635-84F3-0B6BA56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vector_query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B13FD-6795-4712-9ACA-41124457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概念 / 流程 / 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E2F81C-100F-4FB7-997D-8D6CD17E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1695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2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5F165-2354-414D-BF2F-2B49E0A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1FED2-89B3-4F24-868C-840EE773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7FEEB-5D9B-4ADC-8CF2-59B50E7B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hybrid_query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97A6A3-B2C9-414F-B0BE-13CEB370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527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影响分析 / 覆盖率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47304-64F3-4DE9-9FAB-73690D31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2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4C763-79D2-4AB6-B266-ECE32AAB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23F2CA-4A4E-481F-A128-EDDBC9DC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052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EBDC7-BD7E-4E68-BD82-8200FDEA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visualization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C63F38-003A-4F51-B13E-0CF99801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画图 / 关系结构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83A2B-D6A3-4D4E-A5ED-4ACE47B4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144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2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646FB-6CB5-451E-8CAB-21B59500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61975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信心不足时默认走 hybrid，复杂问题还可通过 use_agentic=true 启用多步检索与改写。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D4565-B211-4512-8495-34F565F0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2F6F01-1EFD-439A-9BD7-7B3C8140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5, backend multi_channel retriever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FE4AE9-6834-4B90-95FF-0BFED54B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177443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1880E-DFA7-4D6C-AC3D-D8170EF2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508470-0A06-4B11-8E5A-9D803F39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9F098F3-C0F4-4C1D-A949-C369698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FEDDC-38D6-4F15-8CCB-5626903D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问答和图谱把“可回答”与“可验证关系”放在同一个工作台。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9FA99-1FA2-471B-96FE-7103ED05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33550"/>
            <a:ext cx="48196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d6e15eade45c2"/>
          <a:srcRect xmlns:a="http://schemas.openxmlformats.org/drawingml/2006/main" l="0" t="4312" r="0" b="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09750"/>
            <a:ext cx="466725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3FA04-0833-4064-A2F9-D5A7A436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33550"/>
            <a:ext cx="4819650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f44bf7f3c411c"/>
          <a:srcRect xmlns:a="http://schemas.openxmlformats.org/drawingml/2006/main" l="0" t="4312" r="0" b="43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809750"/>
            <a:ext cx="4667250" cy="3810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D0048-7319-45B5-A0A1-8742C362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6B8C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316B8C"/>
                </a:solidFill>
                <a:latin typeface="PingFang SC"/>
                <a:ea typeface="PingFang SC"/>
                <a:cs typeface="PingFang SC"/>
              </a:rPr>
              <a:t>问答侧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09639-8BA2-428B-BAF0-2DBB685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回答带引用和上下文，可追溯来源。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D2619-9AE3-4019-B741-E6808AA8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10250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7D6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E7D6B"/>
                </a:solidFill>
                <a:latin typeface="PingFang SC"/>
                <a:ea typeface="PingFang SC"/>
                <a:cs typeface="PingFang SC"/>
              </a:rPr>
              <a:t>图谱侧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FD342-FB97-4AC4-9072-80C91765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8102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实体关系可搜索、过滤、查看节点详情。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90AC8-7E8C-4BE0-BB43-BFB8BC04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20F57-3CD1-4375-A346-A74DAFC3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docs/screenshots/qa-page.png, graph-page.png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7821A-87EB-4A98-95B4-64C79210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277329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D257DF-17EC-42E4-8EBC-7F615937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DDF560-045C-4F10-82A8-384CDF6B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2168BE-72BA-47B4-ACE9-6549212F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TEST CASE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61D71-4C0C-4C11-81D4-6E73C19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测试用例生成是三阶段流水线，不是一次性文本补全。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F71F5-A062-4C0C-AFE0-CDB758FD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47800"/>
            <a:ext cx="40576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dd62447364d5d"/>
          <a:srcRect xmlns:a="http://schemas.openxmlformats.org/drawingml/2006/main" l="5332" t="0" r="5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2400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2B057-1CFE-49FC-BC52-CA73BBDF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ECC93-93CF-441F-B1EA-BBEC32B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94927-6643-4A44-B289-9CDF315B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4514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需求分析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560DE-BB29-4882-AB65-DF63E322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451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RequirementAnalyzer 结合文件、上下文和图谱知识，先形成结构化分析。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D1942-6DD7-40F3-A0A6-6E4DE8A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EA2642-B8E1-43D8-B0BC-90FB10B2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0F0268-5571-44AD-B5B8-0404938C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4514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用例生成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1B41C-ED33-4111-A2F6-F6BA7973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51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TestCaseGenerator 基于模块功能、既有用例和相似经验扩展测试场景。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78F6C-6C3F-4013-BB0E-B50A4F0B4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AED3A-79C4-4A5E-A6C4-EBA65AC3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134BE-B1C6-4E55-BFAD-DB94B2BE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91000"/>
            <a:ext cx="45148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用例评审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B4C54-DB61-4170-A282-FAD20DA4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57700"/>
            <a:ext cx="4514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TestCaseReviewer 检查覆盖薄弱点并输出最终结构化用例。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48BF4-E73A-44C8-9708-B3AD4A6C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533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Prompt Hub 可动态管理模板和技能；结果支持列表、导图、Excel、XMind 和入库。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53B52C-DFE8-4C69-AAF6-2C954B70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CD914-2138-4CDB-A768-06A403AF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7, README 核心特性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BF83D5-A5F7-4BE8-A630-9FAB8516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154031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A31CA-934A-4967-B662-8375C034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8C6B57-30C2-4418-B03A-2D11C4D7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425BFB-FD4D-4528-9CCA-A4ADA763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API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B8C80-7FCA-4354-9A45-46551230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API 自动化把接口文档变成 DSL、执行报告和可复用修复经验。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85A37-9E80-4A0D-977F-07B046F3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548640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e5992201b4a17"/>
          <a:srcRect xmlns:a="http://schemas.openxmlformats.org/drawingml/2006/main" l="5191" t="0" r="51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95450"/>
            <a:ext cx="5334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12F50-1CD1-4EC8-8D1C-B8C266F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573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4EA29-BBDC-4369-AE4A-4DFA3320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39C8F-A53E-4E28-A236-FB2AAC67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38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导入接口资产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49F56-7709-44EF-8D00-7CFB06D4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954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OpenAPI / Postman / HAR / Markdown / Word / Excel / 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794CF-4B6E-4AAE-BDA0-C7E47182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7172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A002E-FD26-43B3-BA6F-A69A528E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90775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1A792-B913-4BC2-B979-98A71F53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526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生成 API DSL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E5278-5188-49E6-A0E6-93BB4051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请求、断言、变量提取、依赖顺序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8FCD3-2C37-4662-B175-3A539ECA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23085-96A1-40F5-8B97-AD89C61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A4A9F-A88F-4696-AC5F-5E90F99C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配置环境策略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853A3-6799-411A-92D1-5A449DB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项目、Base URL、Header、变量、黑白名单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FAA298-D190-4F16-A2DD-7D2226E3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8DC00-6ACB-4781-BFE4-9743E1E5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C4042-277E-4959-ADCD-C3F1AA30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814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执行与诊断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3BD7E-8ACC-4E5A-9102-2905B51A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386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单步 / 批量 / 后台执行，失败重跑和报告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83B5B-B7B3-4439-82F0-256AB40A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B9377-E430-4E11-BA7A-A692A990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BB34B-7BA6-49E1-BD73-8BE09A51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95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确认沉淀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0D8E95-7E8D-457C-8FD9-37191C35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52975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可信结果写入知识、向量和图谱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FC851-600D-431F-A64E-2460199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23EFF6-1DB4-4647-85A1-A5B4AB3F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8, API_AUTOMATION_DESIGN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EDDBD-F098-4CD1-8040-CF382199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42324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B0DDB0-2785-4436-90F3-3CE18E7A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36F326F-4E42-4914-B426-99974DD0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FED808-95DF-4F3D-97E9-F23A13E9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68946-183E-4223-805C-8915BAF9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自动化的边界是“受控执行”，不是让 AI 静默改脚本或自动打生产接口。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A047F-689D-496D-A943-29E7E92E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61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502D7-9925-45C1-9A73-6632E0D8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381E0-4F5B-4CC4-B646-D8926655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策略引擎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EFEC5-D60D-46F4-BBE2-6B27DF13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高风险方法、生产环境写操作、黑白名单、最大请求数。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FD9E6-4335-4E78-9634-538FF416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261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276DB-EAB0-423D-8EF1-C98FA67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4C1A7-D04C-4342-AF11-FBFD09ED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人工确认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B60B7-1A88-410D-8D05-223E22C3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81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AI 修复补丁、知识沉淀候选、风险接口都需要用户确认。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607B0-839A-411D-9948-E4B509DB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28875"/>
            <a:ext cx="26193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7D25E-5405-400A-8A00-C7041B77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28875"/>
            <a:ext cx="2619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082EA-427A-4E07-B0DB-8379CA94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审计记录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6941DA-215F-4D01-A257-1281B342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策略判断、执行历史、修复历史和待处理任务可追溯。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7CEACA-AC20-4C50-95DD-AC575880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9112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领导口径：这套系统可以自动化提效，但风险动作仍被策略、审计和人工确认框住。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B6398-C15E-4BD2-A4EB-FF3A4321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0AD2B-D9A4-4414-803A-266FC4F2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8.7-8.9, CHANGELOG 0.2.4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565B6-A588-4EDD-86D6-EFA5E9D0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68457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1CF8C-E2CD-46F2-A33F-6CD17F6F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1010F92-9045-41CF-A8A9-864FD340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8DFF346-0E14-4B33-8344-8701E02B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C61B4-EBEC-411D-B4E4-5318BA0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覆盖率视图把图谱关系翻译成项目管理语言。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BD37E-28DA-4AEA-84AE-3F6727EE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629150" cy="415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81787b3e84aa1"/>
          <a:srcRect xmlns:a="http://schemas.openxmlformats.org/drawingml/2006/main" l="14" t="0" r="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19250"/>
            <a:ext cx="4476750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B839C-842B-4D77-AFC4-DD8F8C83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6B8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16B8C"/>
                </a:solidFill>
                <a:latin typeface="PingFang SC"/>
                <a:ea typeface="PingFang SC"/>
                <a:cs typeface="PingFang SC"/>
              </a:rPr>
              <a:t>看总览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3A130-20C5-4C5D-8076-A9BDF9A9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平均覆盖率、模块风险和用例数量先给管理层一个全局判断。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FED31-063A-4EA4-A522-7BA6B9A2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980C1-0391-467B-B86F-234926E6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82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7822B"/>
                </a:solidFill>
                <a:latin typeface="PingFang SC"/>
                <a:ea typeface="PingFang SC"/>
                <a:cs typeface="PingFang SC"/>
              </a:rPr>
              <a:t>看排行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E65AF-6068-45A5-B879-67DB9F1E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横向排行快速定位覆盖率低、影响范围大的模块。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1029D-5C69-48FA-A53E-02C6DDF9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6FF68-AF02-4D79-8DD9-5CE52E32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E7D6B"/>
                </a:solidFill>
                <a:latin typeface="PingFang SC"/>
                <a:ea typeface="PingFang SC"/>
                <a:cs typeface="PingFang SC"/>
              </a:rPr>
              <a:t>看明细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F56DBE-BBC9-4BBF-9503-41A5D94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模块、功能、用例关系来自 Neo4j，可继续反查知识来源。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DA140-B66F-4756-BFA5-02862138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9390E-9DD5-4248-B312-96BAC941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66AB7-15A7-43E3-9CF3-2206F82A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9, docs/screenshots/coverage-page.png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02A428-499B-4DE1-9435-1B768F84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55218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B02A0D-C06F-4171-8534-062CDC7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ABD6EE9-0992-43AA-901F-73303DAC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BE7D3B-07B7-4310-B1A7-4024E3DD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PERSISTENCE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381E2-DD6C-431B-80A3-D0A8B19D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000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后端结构化运行态已经收敛到 SQLite，但图谱、向量、文件仍各用其位。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94086-08C7-4711-9237-33DAB887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B73CF-47FB-403D-90FF-36626971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CDD32-1485-4848-8580-5E073DBC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D6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E7D6B"/>
                </a:solidFill>
                <a:latin typeface="PingFang SC"/>
                <a:ea typeface="PingFang SC"/>
                <a:cs typeface="PingFang SC"/>
              </a:rPr>
              <a:t>SQLite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12B8E0-D4A5-4984-9A55-3CD9D978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717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backend/app/data/openmelon.db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ECFD7-0225-4019-9430-AD0EBC0C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62175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API 自动化、file_records、Prompt Hub、节点类型配置等运行态结构化数据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030AD-6F31-4DAB-9D67-EAFED272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5C888-CF7B-4F72-BBFC-C66C5D48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8536B-E0C5-4556-832A-AB5CCC83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6B8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16B8C"/>
                </a:solidFill>
                <a:latin typeface="PingFang SC"/>
                <a:ea typeface="PingFang SC"/>
                <a:cs typeface="PingFang SC"/>
              </a:rPr>
              <a:t>Neo4j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B836F-D746-4126-AA75-2B2EEEDB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90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图数据库服务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DF278-440E-4DD9-9F39-BCD64DE2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81325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实体、模块、功能、用例、接口和覆盖关系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17C68-DA17-4955-A3A3-0F573D2D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03A3C-0C73-4702-BA4A-B31A8B11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AC094-E69D-40B7-97BA-075B73A5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5C9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5C99"/>
                </a:solidFill>
                <a:latin typeface="PingFang SC"/>
                <a:ea typeface="PingFang SC"/>
                <a:cs typeface="PingFang SC"/>
              </a:rPr>
              <a:t>Qdrant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9E74B-BCD6-45DB-9F99-74EF01B6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0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可选外部向量库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82CCBC-233D-403E-99EA-964E1153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00475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文档 chunk、API 修复经验等语义检索向量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86C57-3E1C-4915-AF22-02958E5D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25318-450B-414B-89BA-AA50CDD2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D543FA-49D0-4AA6-B040-0B85320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82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C7822B"/>
                </a:solidFill>
                <a:latin typeface="PingFang SC"/>
                <a:ea typeface="PingFang SC"/>
                <a:cs typeface="PingFang SC"/>
              </a:rPr>
              <a:t>Files / 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881E9-49D9-41D0-8A89-B7EE16EB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29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8202A"/>
                </a:solidFill>
                <a:latin typeface="Aptos Mono"/>
                <a:ea typeface="Aptos Mono"/>
                <a:cs typeface="Aptos Mono"/>
              </a:rPr>
              <a:t>uploads / openmelon.log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725A1-C823-4F26-AC5A-F740875F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9625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原始上传文件、运行日志和排障材料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CC6FCF-FE70-41C0-A52F-646289DB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388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结论：不是“所有东西都塞进 SQLite”，而是后端自有结构化运行态统一 SQLite，专业数据仍交给专业存储。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83AEB-C49C-4485-B382-6A5ED76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0C78A-A5D3-425B-B323-80231FEA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13.6, CHANGELOG 0.2.6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C306AE-7CC0-4E96-B112-3681DB39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2817433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F8DF2-5139-469C-BD14-4B141F98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451499-5049-457B-9A98-A3EF192A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9CEFC6-5EFF-4FAB-8DE7-3783F2CF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5B42A-A724-453F-92A5-209EC67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配置分成五类：模型、图谱、向量、检索、生成与 Agentic。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9A3C1-4DB9-4D01-B5EC-BE288A68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B79D2-3C15-48EB-A9AA-2B2FE865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38A03-4DE1-4623-88A9-C21BDD09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28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模型接入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1EE3D-284A-4D9D-8E5E-AA74507A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LLM_PROVIDER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API_KEY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API_BASE_URL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CHAT_MODEL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EMBEDDING_MODEL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494495-171A-482B-A7C4-218F4F57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383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047F9-09D9-4CDB-B05C-CBF2C19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383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FE084-6E14-46E0-A22E-7FA9C0185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28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Neo4j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68D1A-DDD8-4DBE-B759-517DB7E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NEO4J_URI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NEO4J_USER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NEO4J_PASSWORD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9DF6B-97A9-4C46-BC6C-2591EBE2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78C43-122B-4ACC-B05A-F9EEA22B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383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16B21-C987-4E50-BD2F-A7BA1520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28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Qdrant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7E917-3161-438B-8EBC-53D3059D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USE_EXTERNAL_VECTOR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VECTOR_PROVIDER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QDRANT_HOST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QDRANT_PORT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1D5F0-FA06-4D85-BC69-01BD9AC9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D5453-8AA6-4A31-B9AD-EFA797F3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8688C-4DD7-4CC3-A73C-6111621A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检索与重排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4AA20-FAF4-420B-B16B-9065F401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RETRIEVAL_TOP_K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RETRIEVAL_DEPTH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USE_RERANKER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RERANKER_TOP_K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6829EE-ADB1-456B-89D3-BBBCC600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29050"/>
            <a:ext cx="2857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332CE5-B15C-48D2-8CD8-1FD67A86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290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CFA87F-D582-45CE-B755-3EF4B00B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生成与 Agentic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6E4CF-05D7-4301-B5CE-246057C8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GENERATION_MAX_TOKENS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GENERATION_TEMPERATURE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AGENTIC_MAX_STEPS</a:t>
            </a:r>
          </a:p>
          <a:p xmlns:a="http://schemas.openxmlformats.org/drawingml/2006/main">
            <a:pPr algn="l">
              <a:def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65717F"/>
                </a:solidFill>
                <a:latin typeface="Aptos Mono"/>
                <a:ea typeface="Aptos Mono"/>
                <a:cs typeface="Aptos Mono"/>
              </a:rPr>
              <a:t>INTENT_CONFIDENCE_THRESHOLD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C10B9-DC1F-40C8-BEA4-CD0C3D22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523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C5523A"/>
                </a:solidFill>
                <a:latin typeface="PingFang SC"/>
                <a:ea typeface="PingFang SC"/>
                <a:cs typeface="PingFang SC"/>
              </a:rPr>
              <a:t>培训提醒：.env 中被注释的项不会生效，未启用时走 backend/app/config.py 默认值。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155ADF-8B18-4D58-AF98-73F86670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B1DCB-5089-4474-8AAE-1FE0ECC6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MANUAL 3.1-3.6, .env.example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CE2BF-21B1-4A57-B3FB-5EB90AE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895777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A115A-4106-4202-97D9-93C9C479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817DE11-5612-4D65-9A5F-7467884A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963B9A-8A2A-4087-BAC9-4647A74A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TRAINING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5A61E-A21D-4DBE-B19B-6F39472D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建议现场演示按 6 步走，能把能力闭环一次讲透。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23B60-7D1B-4999-BBF5-9E0FC991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E87D9-18F6-430F-A066-D1B1B1A4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3B566-7053-434C-BD2A-871B90B8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导入文档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5E651-EA5A-4DA4-B901-69A1C3F3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上传需求或接口材料，等待索引完成。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74D26-6754-4276-900F-94FFA04F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527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BB220-334F-41CF-A0EB-9C4365F3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81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5B4B42-8448-4888-85BB-672535D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908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DC771-EB15-4798-B0F9-EEE937EA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051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智能问答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DFA015-F0A6-45AF-AF5F-EF484F1F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提一个业务问题，展开引用和上下文。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1DA14-E4EA-42F3-98A5-6EDC0CB2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527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A3A45-B28A-4C91-B9B6-56CB4E6A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5C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ECEA9-6701-4D5E-9CEE-0C5D4B83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AA092-83BD-4EC0-964C-ABA35261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查看图谱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1C56D-14B0-4F66-8752-48D4AEAF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搜索实体，展示 2 度关系和节点详情。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5D7BD-720A-41F3-AC8B-635A47C2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5DF76-FB16-420B-A38A-B643407B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64FED-2738-44C1-9752-E8C7A714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8DD56-E486-428B-B3EA-B05E47B4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生成用例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88F4A-D63F-46BB-8D57-1B08994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719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选择模板/技能，观察三阶段输出。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84F5A-9E9D-4C5C-AEF3-C2F499BC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4EB62E-8C63-4BC3-82E6-A0DD25E7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81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333959-C533-463C-ACA5-1D57F55C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908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1168AE-B172-4B47-92D5-F7250B7D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API 自动化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83B77-14FA-45C3-B665-6A72F28A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导入接口文档，生成 DSL 并配置环境。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2D97EE-23F7-47B4-8D0A-90DFC508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169553-CA1C-4B5B-8CBD-4075A35E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143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668B79-073A-4720-8EB5-C7C4AB22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90800"/>
            <a:ext cx="76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74F59-00A3-4F6B-AF85-81B214D1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覆盖治理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E75A34-BF98-4C1E-8E8E-0AE00625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71900"/>
            <a:ext cx="1562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查看覆盖率排行，说明风险闭环。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B2B87E-292F-4CE2-8F09-72975DB1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这条路径既适合新人培训，也适合领导现场看“从知识到执行”的闭环。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4794C-247D-47E6-B379-D601FA06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F10C3C-D898-4CCE-A953-64CC9BD6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README 使用指南, MANUAL 快速导览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AF0804-D14E-4EBE-A812-9C7DDB09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2195543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73EEF-7B28-48C3-90EE-A9016F8F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1E676A-6418-45CB-A61A-33773F30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D3DAB4-27A7-437D-98C3-44B18BED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PROGRESS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9630B-7084-4B96-9FDE-6936FEFF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近期版本主线很清楚：先扩 API 自动化，再补存储治理。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F9B1F-5F5D-44A5-9862-9385DF18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381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F71FA-AB87-495D-BFB2-C9B8CDCC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E7349-8A7F-44A0-A250-312DA086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6B8C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316B8C"/>
                </a:solidFill>
                <a:latin typeface="Aptos Mono"/>
                <a:ea typeface="Aptos Mono"/>
                <a:cs typeface="Aptos Mono"/>
              </a:rPr>
              <a:t>0.2.4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212E5-80B8-4CD0-AEB3-6200D925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API 自动化多来源导入与控制面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CDFAF-A163-42A2-9C83-A7A3AC34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3860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OpenAPI / Postman / HAR / 文档解析，策略、AI 修复、知识沉淀质量门。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42D48F-FB30-4128-826F-331E49B9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381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E5497-26E0-42B1-AE61-BDE2702E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9F68A-95E2-404B-BB45-AB5E2D6A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7822B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C7822B"/>
                </a:solidFill>
                <a:latin typeface="Aptos Mono"/>
                <a:ea typeface="Aptos Mono"/>
                <a:cs typeface="Aptos Mono"/>
              </a:rPr>
              <a:t>0.2.5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B0F1A-C634-48D1-A6BF-33EA58B9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90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API 自动化增强与 SQLite 基础设施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25DAD-C5C6-472B-B707-D738AC11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3860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共享 BaseSQLiteStore、API 执行存储、file_tracker 与 Prompt Hub 迁移。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02294-DF91-4839-AAEB-9A6D5C5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238125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2FD6D-B4A6-4D36-885B-57BE31B7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7F2625-C4B5-4491-A021-051B5B18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2415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D6B"/>
                </a:solidFill>
                <a:latin typeface="Aptos Mono"/>
                <a:ea typeface="Aptos Mono"/>
                <a:cs typeface="Aptos Mono"/>
              </a:defRPr>
            </a:pPr>
            <a:r>
              <a:rPr sz="2550" b="1">
                <a:solidFill>
                  <a:srgbClr val="2E7D6B"/>
                </a:solidFill>
                <a:latin typeface="Aptos Mono"/>
                <a:ea typeface="Aptos Mono"/>
                <a:cs typeface="Aptos Mono"/>
              </a:rPr>
              <a:t>0.2.6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EE6EE-9485-4B02-8711-33479DE1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后端结构化持久化 SQLite 收敛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46D1F2-ED5D-476D-8FDB-D34A0E66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1866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API 自动化 SQLite-only，节点类型配置入库，98 个相关用例通过。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A5CFB-7283-46DE-9E04-094112A1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41E5A6-440C-41E9-9ED0-5C624F98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CHANGELOG 0.2.4-0.2.6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20428F-42BF-4F8E-9A07-7CB642A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3742287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894D2A-51D8-44C2-97A9-F9EAD1B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C3D3CF-C8E6-4A40-8127-DA3CB3A6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746B30-DC99-45B9-A306-4491D739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B9C3CE"/>
                </a:solidFill>
                <a:latin typeface="PingFang SC"/>
                <a:ea typeface="PingFang SC"/>
                <a:cs typeface="PingFang SC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DA49A-CC4B-4E4D-B4DA-A28AA5693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1009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下一步最可行的桥，是“用例生成 → API 自动化 DSL”，而不是直接自动执行。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8077B-94A3-4F2C-991D-EF4C0520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809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4EE59-8676-4EEF-AF1A-530B0D5D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BA85E-94EA-4DF9-A1AD-03ACB4AF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050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8F021-157A-4264-B88D-73F02C57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90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OpenAPI 优先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07C6F-9019-498C-8D45-FB1DDDF4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4098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生成结果区新增“转为 API 自动化脚本”，只生成 DSL。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44D92-BFA8-4441-8DE9-E31B4D68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758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8C821-DCB6-4868-8A41-54462BB7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956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826380-3A55-458E-BCD4-131D7A2C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0861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匹配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A3C84-A5FC-4A0A-9157-A1FBC708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71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operation_id / METHOD path / 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5069B-918F-468A-8BFE-4BC4FFD4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908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再补充 path 片段关键词；未匹配的用例保留为人工用例。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A791C-BF51-4161-AEC7-F3EFA68B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76650"/>
            <a:ext cx="7067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D9870-6A93-4CF5-8B67-4CD28ED5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7665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6AC42C-FE1E-4A5F-93BC-D2A6816B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6715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4E5CF-0D90-406B-BBEA-9305575D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52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不自动执行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E0505A-AE1F-46E1-923D-923C1F88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719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跳转 API 自动化页面后，由用户确认环境、策略、Header 和变量。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FC152-3A0A-4D47-AB3E-C0D1588F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57700"/>
            <a:ext cx="655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354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C516F-8343-4712-8B96-970DD9A8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57700"/>
            <a:ext cx="781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2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910E0E-5410-4A9D-BDAE-0DD57A90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482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613BE-2CD8-4144-9A74-234E8EE4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33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单测 + 集成 + E2E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B2970-CC86-4448-96DC-6DF97D6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6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保证 API 自动化现有 DSL、校验、执行、导出流程不被破坏。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9A23E-9C63-4382-8778-325C5F5F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38800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CE5E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CE5EC"/>
                </a:solidFill>
                <a:latin typeface="PingFang SC"/>
                <a:ea typeface="PingFang SC"/>
                <a:cs typeface="PingFang SC"/>
              </a:rPr>
              <a:t>这条路复用 API 自动化已有安全边界，产品价值明确，改造风险可控。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FB571-79BB-43EC-ACDC-C164F087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8029A-050E-447F-8B3F-69CF193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Source: docs/Knowledge/testcase-to-api-automation-integration-plan.md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E210C-DCFF-4074-8812-8879AC5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1578888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CEF65-003E-4392-B87F-8245189B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AD9160-37B7-4F42-86FE-096FD6FF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9CC5E3-4F75-47D1-A9F2-7A9817AF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D703A-FB4E-47D2-B823-4B5223B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OpenMelon 当前最值得传达的三句话。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66854-EF01-4EAE-9FC3-70C9F26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52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B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59238-75D9-4A1D-8869-8F42C2F7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812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6B8C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16B8C"/>
                </a:solidFill>
                <a:latin typeface="PingFang SC"/>
                <a:ea typeface="PingFang SC"/>
                <a:cs typeface="PingFang SC"/>
              </a:rPr>
              <a:t>一条闭环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523BC-C98A-40BD-85E9-FC7DDDBA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002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需求和接口材料进入系统后，可以被问答、被关联、被生成、被执行、被治理。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E8927-B34B-4FF8-9A4D-FAF88E2A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432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912E8-95B4-44C9-ADCC-55A23AD3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152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BD2DE-F9E1-4FC0-9E35-81192598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242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52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C5523A"/>
                </a:solidFill>
                <a:latin typeface="PingFang SC"/>
                <a:ea typeface="PingFang SC"/>
                <a:cs typeface="PingFang SC"/>
              </a:rPr>
              <a:t>一个边界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0ADEF-458D-41E4-99D3-8839E7F8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432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自动化可以提效，但风险接口、AI 修复和知识沉淀都保留策略与人工确认。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380A8-C958-468B-B377-F59D3077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EB77D-73A9-4321-9203-E07126B7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86250"/>
            <a:ext cx="152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2FB4C-225F-41A0-A21A-C5C211ED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672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E7D6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E7D6B"/>
                </a:solidFill>
                <a:latin typeface="PingFang SC"/>
                <a:ea typeface="PingFang SC"/>
                <a:cs typeface="PingFang SC"/>
              </a:rPr>
              <a:t>一套底座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6B9DA-B067-462F-86CB-0CACF9F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8202A"/>
                </a:solidFill>
                <a:latin typeface="PingFang SC"/>
                <a:ea typeface="PingFang SC"/>
                <a:cs typeface="PingFang SC"/>
              </a:rPr>
              <a:t>SQLite、Neo4j、Qdrant、文件和日志分工明确，支撑后续持续演进。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BC3D0-EA9A-411F-A832-D040B1DD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292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26E04-A717-446F-8B40-09C6A632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34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建议讲解结束后进入系统按第 15 页路径做现场演示。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2AF50-F252-4F23-A221-5930734C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60BB81-32CC-4657-8546-23036EAB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OpenMelon project training and leadership briefing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7C3E0-A68A-4BBA-9F7B-9C8DF857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48425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65717F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69559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2026-05-08T03:31:01.9610000Z</dcterms:created>
  <dcterms:modified xsi:type="dcterms:W3CDTF">2026-05-08T03:31:01.9610000Z</dcterms:modified>
</coreProperties>
</file>